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9CEE8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0" u="none" strike="noStrike">
                    <a:solidFill>
                      <a:srgbClr val="FFFFFF"/>
                    </a:solidFill>
                    <a:uFillTx/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Нейросеть
(MLP)</c:v>
                </c:pt>
                <c:pt idx="1">
                  <c:v>Логрегрессия</c:v>
                </c:pt>
                <c:pt idx="2">
                  <c:v>Случайный
лес</c:v>
                </c:pt>
                <c:pt idx="3">
                  <c:v>Ансамбль
ET+LR+SVM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0.74399999999999999</c:v>
                </c:pt>
                <c:pt idx="1">
                  <c:v>0.78500000000000003</c:v>
                </c:pt>
                <c:pt idx="2">
                  <c:v>0.83</c:v>
                </c:pt>
                <c:pt idx="3">
                  <c:v>0.84499999999999997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FF6B4C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0" u="none" strike="noStrike">
                    <a:solidFill>
                      <a:srgbClr val="FFFFFF"/>
                    </a:solidFill>
                    <a:uFillTx/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Нейросеть
(MLP)</c:v>
                </c:pt>
                <c:pt idx="1">
                  <c:v>Логрегрессия</c:v>
                </c:pt>
                <c:pt idx="2">
                  <c:v>Случайный
лес</c:v>
                </c:pt>
                <c:pt idx="3">
                  <c:v>Ансамбль
ET+LR+SVM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0.38600000000000001</c:v>
                </c:pt>
                <c:pt idx="1">
                  <c:v>0.443</c:v>
                </c:pt>
                <c:pt idx="2">
                  <c:v>0.499</c:v>
                </c:pt>
                <c:pt idx="3">
                  <c:v>0.52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452207568"/>
        <c:axId val="452215016"/>
      </c:barChart>
      <c:catAx>
        <c:axId val="4522075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39426B"/>
            </a:solidFill>
            <a:round/>
          </a:ln>
        </c:spPr>
        <c:txPr>
          <a:bodyPr/>
          <a:lstStyle/>
          <a:p>
            <a:pPr>
              <a:defRPr sz="950" b="0" u="none" strike="noStrike">
                <a:solidFill>
                  <a:srgbClr val="8A90A8"/>
                </a:solidFill>
                <a:uFillTx/>
                <a:latin typeface="Arial"/>
              </a:defRPr>
            </a:pPr>
            <a:endParaRPr lang="ru-RU"/>
          </a:p>
        </c:txPr>
        <c:crossAx val="452215016"/>
        <c:crosses val="autoZero"/>
        <c:auto val="1"/>
        <c:lblAlgn val="ctr"/>
        <c:lblOffset val="100"/>
        <c:noMultiLvlLbl val="0"/>
      </c:catAx>
      <c:valAx>
        <c:axId val="452215016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2207568"/>
        <c:crosses val="autoZero"/>
        <c:crossBetween val="between"/>
      </c:valAx>
      <c:spPr>
        <a:solidFill>
          <a:srgbClr val="222A50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8A90A8"/>
              </a:solidFill>
              <a:uFillTx/>
              <a:latin typeface="Calibri"/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222A50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430AA1E-919F-4D05-B8B4-6BABAD63ABE3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588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Добрый день, мы команда [название], кейс 6 — предсказание риска незачёта. Наша задача была не просто построить модель, а сделать так, чтобы куратор мог использовать её заранее — в тот момент, когда ещё есть возможность помочь студенту.</a:t>
            </a:r>
          </a:p>
        </p:txBody>
      </p:sp>
      <p:sp>
        <p:nvSpPr>
          <p:cNvPr id="34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CC3426D-121D-49C3-BF3D-004415FA47D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5352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1C9A44D-ACD8-46F8-8501-B5362CFEFF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164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Проблема простая: куратор узнаёт, что у студента проблемы с предметом, когда видит итоговые оценки — а в этот момент уже ничего не исправить. Основной ресурс в решении проблем такого рода — это внимание. Оно позволяет наставнику помочь конкретным студентам, и именно его нужно распределять наиболее эффективным образом. При этом и сам студент должен понимать своё положение и оценивать риски, чтобы попытаться самостоятельно решить проблему и не затрачивать ограниченный ресурс наставника. Именно поэтому мы решаем эту проблему для двух аудиторий — для наставников и для самих студентов. Куратор получает список тех, кому стоит уделить внимание, а студент может анонимно проверить собственные риски через анкету. Ценность у нас не абстрактная, а измеримая: список из 40 человек, отобранных моделью, содержит в разы больше реальных незачётов, чем случайная выборка того же размера. При этом решение может масштабироваться на разные учебные дисциплины — с учётом того, что модель должна быть проверена и адаптирована под конкретный предмет</a:t>
            </a:r>
          </a:p>
        </p:txBody>
      </p:sp>
      <p:sp>
        <p:nvSpPr>
          <p:cNvPr id="34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215573A-72ED-4C08-B364-0BA69A2172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456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Чтобы не быть голословными, мы честно перебрали больше 10 разных моделей — от логистической регрессии до нейросети и градиентных бустингов вроде CatBoost. Оценивали не на одном разбиении данных, а на повторяющейся кросс-валидации — чтобы не обмануться случайностью конкретного разбиения. Победила не одна модель, а ансамбль из трёх простых: случайный лес, логистическая регрессия и SVM с мягким голосованием. Такой подход дал статистически значимый прирост качества по сравнению с отдельными моделями — это подтверждено парным статистическим тестом, при этом p меньше 0,05. Почему не выиграли модные бустинги и нейросети? У нас всего 649 студентов — на таком объёме им сложнее реализовать свои преимущества, а риск переобучения выше. В свою очередь, простые модели реже переобучаются на случайных совпадениях. Поэтому мы выбирали модель не по тому, насколько современно она звучит, а по тому, насколько стабильно она работает на наших данных</a:t>
            </a:r>
          </a:p>
        </p:txBody>
      </p:sp>
      <p:sp>
        <p:nvSpPr>
          <p:cNvPr id="34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D52E2DE-FB93-4F8E-BECF-5251D96D513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5211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D430AA1E-919F-4D05-B8B4-6BABAD63ABE3}" type="slidenum">
              <a:rPr lang="ru-RU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9605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Весь код в открытом доступе — сам итоговый ноутбук, а также честные отрицательные результаты: что мы попробовали и что не сработало, а также отдельно — проверка модели на справедливость по группам</a:t>
            </a:r>
          </a:p>
        </p:txBody>
      </p:sp>
      <p:sp>
        <p:nvSpPr>
          <p:cNvPr id="35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9B8BE26-D28B-4B73-86BB-FA25727D2FA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8988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Вот как это выглядит на практике.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Куратор загружает обычный CSV, TSV или Excel-файл с выгрузкой по группе — и через секунды получает список студентов, которым потенциально стоит уделить внимание.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 этом размер списка не выбирается на глаз.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Мы привязали порог не к абстрактной вероятности, а к реальной ёмкости куратора: сколько студентов он физически сможет охватить своим вниманием за семестр.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Ползунок сразу показывает, при каком пороге вероятности формируется такой список и сколько студентов оказывается в зоне внимания.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То есть модель отвечает на вопрос не просто «у кого высокий риск?», а помогает решить практическую задачу: на кого наставнику направить ограниченный ресурс внимания в первую очередь.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Плюс есть фильтры по школе, полу и месту жительства. Они позволяют прямо в интерфейсе проверить, не получается ли так, что сформированный список непропорционально состоит из одной группы.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Это важно, потому что внимание наставника должно распределяться осознанно, а не автоматически уходить в одну категорию студентов</a:t>
            </a:r>
          </a:p>
        </p:txBody>
      </p:sp>
      <p:sp>
        <p:nvSpPr>
          <p:cNvPr id="35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B2AA29D-66F6-4355-9AB0-23350104534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2053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 ещё один момент, который расширяет пользу решения.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Тот же подход доступен не только куратору, но и самому студенту — через анонимную анкету «Проверить себя».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Здесь принцип тот же: система не ставит студенту диагноз и не сообщает ему, что он обязательно получит незачёт.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Она даёт дополнительный сигнал: возможно, сейчас стоит обратить внимание на этот предмет, разобраться с проблемными моментами или обратиться за помощью.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Таким образом, мы не только экономим внимание наставника, но и позволяем студенту самому раньше заметить потенциальную проблему.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 этом форма честно предупреждает об ограничениях: модель обучена на конкретном предмете, и без оценок за контрольные расчёт специфичен именно для него.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Это важно — мы не выдаём модель за то, чем она не является.</a:t>
            </a:r>
          </a:p>
        </p:txBody>
      </p:sp>
      <p:sp>
        <p:nvSpPr>
          <p:cNvPr id="35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3387E74-5DA2-46B0-B297-3E9519DFE81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994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Коротко о ролях в команде. [заполнить по факту, кто чем занимался]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03BCA25-2919-47CD-B2D0-ED475666E32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9722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Спасибо за внимание.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 можете задать свои вопросы.</a:t>
            </a:r>
          </a:p>
        </p:txBody>
      </p:sp>
      <p:sp>
        <p:nvSpPr>
          <p:cNvPr id="36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4E9E846-6BAB-48D9-AEFE-1D055D90F68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7037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9144000" y="-2103120"/>
            <a:ext cx="4754520" cy="4754520"/>
          </a:xfrm>
          <a:prstGeom prst="ellipse">
            <a:avLst/>
          </a:prstGeom>
          <a:noFill/>
          <a:ln w="15875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9692640" y="-1554480"/>
            <a:ext cx="3657240" cy="3657240"/>
          </a:xfrm>
          <a:prstGeom prst="ellipse">
            <a:avLst/>
          </a:prstGeom>
          <a:noFill/>
          <a:ln w="15875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10241280" y="-1005840"/>
            <a:ext cx="2559960" cy="2559960"/>
          </a:xfrm>
          <a:prstGeom prst="ellipse">
            <a:avLst/>
          </a:prstGeom>
          <a:noFill/>
          <a:ln w="15875">
            <a:solidFill>
              <a:srgbClr val="3A457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85800" y="1874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КЕЙС 6 · ДИАЙПИ ТМК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85800" y="224028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Кто не получит зачёт</a:t>
            </a:r>
            <a:endParaRPr lang="ru-RU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85800" y="3429000"/>
            <a:ext cx="8503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Модель раннего риска незачёта — от сырых данных до интерфейса куратора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685800" y="5394960"/>
            <a:ext cx="502560" cy="19800"/>
          </a:xfrm>
          <a:prstGeom prst="rect">
            <a:avLst/>
          </a:prstGeom>
          <a:solidFill>
            <a:srgbClr val="3942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685800" y="553212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оманд</a:t>
            </a:r>
            <a:r>
              <a:rPr lang="ru-RU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 «Продаемся за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EDU</a:t>
            </a:r>
            <a:r>
              <a:rPr lang="ru-RU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»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Shape 2"/>
          <p:cNvSpPr/>
          <p:nvPr/>
        </p:nvSpPr>
        <p:spPr>
          <a:xfrm>
            <a:off x="5149080" y="1901160"/>
            <a:ext cx="6485400" cy="84492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1"/>
          <p:cNvSpPr/>
          <p:nvPr/>
        </p:nvSpPr>
        <p:spPr>
          <a:xfrm>
            <a:off x="5166360" y="1877760"/>
            <a:ext cx="6485400" cy="9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6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Задачи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166360" y="4737240"/>
            <a:ext cx="3078720" cy="1490040"/>
          </a:xfrm>
          <a:prstGeom prst="roundRect">
            <a:avLst>
              <a:gd name="adj" fmla="val 5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166360" y="3025440"/>
            <a:ext cx="3078720" cy="1490040"/>
          </a:xfrm>
          <a:prstGeom prst="roundRect">
            <a:avLst>
              <a:gd name="adj" fmla="val 5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8538120" y="4729680"/>
            <a:ext cx="3096720" cy="1490040"/>
          </a:xfrm>
          <a:prstGeom prst="roundRect">
            <a:avLst>
              <a:gd name="adj" fmla="val 5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538120" y="3025440"/>
            <a:ext cx="3096720" cy="1490040"/>
          </a:xfrm>
          <a:prstGeom prst="roundRect">
            <a:avLst>
              <a:gd name="adj" fmla="val 5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685800" y="1901160"/>
            <a:ext cx="4258080" cy="432216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ПРОБЛЕМА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685800" y="9144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Куратор узнаёт о риске раньше, а не после сессии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5459040" y="4919040"/>
            <a:ext cx="25502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C9CEE8"/>
                </a:solidFill>
                <a:effectLst/>
                <a:uFillTx/>
                <a:latin typeface="Cambria"/>
                <a:ea typeface="Cambria"/>
              </a:rPr>
              <a:t>03 — Обоснование решения</a:t>
            </a:r>
            <a:r>
              <a:rPr sz="1600"/>
              <a:t/>
            </a:r>
            <a:br>
              <a:rPr sz="1600"/>
            </a:b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mbria"/>
              </a:rPr>
              <a:t>Показывать факторы, влияющие на оценку риска.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1089000" y="3841200"/>
            <a:ext cx="3799440" cy="88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</a:pP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</a:rPr>
              <a:t>Невозможно одинаково подробно работать с каждым студентом. Нужно понимать, </a:t>
            </a:r>
            <a:r>
              <a:rPr lang="ru-RU" sz="1400" b="1" u="none" strike="noStrike">
                <a:solidFill>
                  <a:srgbClr val="C9CEE8"/>
                </a:solidFill>
                <a:effectLst/>
                <a:uFillTx/>
                <a:latin typeface="Calibri"/>
              </a:rPr>
              <a:t>кому помощь нужна в первую очередь</a:t>
            </a: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</a:rPr>
              <a:t>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1060560" y="5022360"/>
            <a:ext cx="3734280" cy="120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</a:pP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</a:rPr>
              <a:t>Потенциальная проблема может оставаться незамеченной в том числе и студентом до момента, когда исправить ситуацию уже сложно.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1"/>
          <p:cNvSpPr/>
          <p:nvPr/>
        </p:nvSpPr>
        <p:spPr>
          <a:xfrm>
            <a:off x="8836200" y="3215160"/>
            <a:ext cx="251856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C9CEE8"/>
                </a:solidFill>
                <a:effectLst/>
                <a:uFillTx/>
                <a:latin typeface="Cambria"/>
                <a:ea typeface="Cambria"/>
              </a:rPr>
              <a:t>02 — Приоритизация внимания</a:t>
            </a:r>
            <a:r>
              <a:rPr sz="1400"/>
              <a:t/>
            </a:r>
            <a:br>
              <a:rPr sz="1400"/>
            </a:b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mbria"/>
              </a:rPr>
              <a:t>Помогать наставнику понять, кому уделить время в первую очередь.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5459040" y="3215160"/>
            <a:ext cx="25502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C9CEE8"/>
                </a:solidFill>
                <a:effectLst/>
                <a:uFillTx/>
                <a:latin typeface="Cambria"/>
                <a:ea typeface="Cambria"/>
              </a:rPr>
              <a:t>01 — Раннее выявление</a:t>
            </a:r>
            <a:r>
              <a:rPr sz="1400"/>
              <a:t/>
            </a:r>
            <a:br>
              <a:rPr sz="1400"/>
            </a:b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mbria"/>
              </a:rPr>
              <a:t>Заранее определять студентов в зоне риска.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85800" y="1901160"/>
            <a:ext cx="4109040" cy="68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8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Проблемы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8836200" y="4927680"/>
            <a:ext cx="251856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C9CEE8"/>
                </a:solidFill>
                <a:effectLst/>
                <a:uFillTx/>
                <a:latin typeface="Cambria"/>
                <a:ea typeface="Cambria"/>
              </a:rPr>
              <a:t>04 — Самооценка студента</a:t>
            </a:r>
            <a:r>
              <a:rPr sz="1400"/>
              <a:t/>
            </a:r>
            <a:br>
              <a:rPr sz="1400"/>
            </a:b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mbria"/>
              </a:rPr>
              <a:t>Дать студенту возможность самостоятельно проверить свой риск.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877320" y="2647800"/>
            <a:ext cx="91080" cy="91080"/>
          </a:xfrm>
          <a:prstGeom prst="ellipse">
            <a:avLst/>
          </a:prstGeom>
          <a:solidFill>
            <a:srgbClr val="FF6B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875520" y="3631320"/>
            <a:ext cx="92880" cy="91080"/>
          </a:xfrm>
          <a:prstGeom prst="ellipse">
            <a:avLst/>
          </a:prstGeom>
          <a:solidFill>
            <a:srgbClr val="FF6B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876960" y="4881960"/>
            <a:ext cx="91080" cy="91080"/>
          </a:xfrm>
          <a:prstGeom prst="ellipse">
            <a:avLst/>
          </a:prstGeom>
          <a:solidFill>
            <a:srgbClr val="FF6B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1089000" y="2795400"/>
            <a:ext cx="4105440" cy="76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</a:pP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</a:rPr>
              <a:t>Куратор узнаёт о риске незачёта, когда уже появляются итоговые результаты.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089000" y="2652120"/>
            <a:ext cx="37058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Проблема выявляется слишком поздно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089000" y="3561840"/>
            <a:ext cx="3705840" cy="2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Внимание наставника — ограниченный ресурс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1060560" y="4882320"/>
            <a:ext cx="41054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Студент не всегда осознаёт наличие риска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СТАТИСТИКА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685800" y="9144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Куратор узнаёт о риске раньше, а не после сессии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685800" y="2020680"/>
            <a:ext cx="4160160" cy="416016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051560" y="231336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150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ИЗМЕРИМАЯ ЦЕННОСТЬ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960120" y="2624400"/>
            <a:ext cx="36115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×</a:t>
            </a:r>
            <a:r>
              <a:rPr lang="ru-RU" sz="9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r>
              <a:rPr lang="en-US" sz="9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,1</a:t>
            </a:r>
            <a:endParaRPr lang="ru-RU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1007280" y="4125600"/>
            <a:ext cx="342864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столько незачётов в списке риска по сравнению со случайной выборкой того же размера (40 человек)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1007280" y="5104800"/>
            <a:ext cx="3428640" cy="13320"/>
          </a:xfrm>
          <a:prstGeom prst="rect">
            <a:avLst/>
          </a:prstGeom>
          <a:solidFill>
            <a:srgbClr val="3942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1007280" y="532512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Список размера привязан к реальной ёмкости куратора — не абстрактный порог вероятности, а «сколько человек он физически успеет принять».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5166000" y="3562920"/>
            <a:ext cx="3728880" cy="1076400"/>
          </a:xfrm>
          <a:prstGeom prst="roundRect">
            <a:avLst>
              <a:gd name="adj" fmla="val 5000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5185800" y="3562920"/>
            <a:ext cx="1468080" cy="10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27/43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6654600" y="3587400"/>
            <a:ext cx="2240640" cy="10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В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 списке действительно не сдадут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5166000" y="2020680"/>
            <a:ext cx="3728880" cy="1076400"/>
          </a:xfrm>
          <a:prstGeom prst="roundRect">
            <a:avLst>
              <a:gd name="adj" fmla="val 5000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5166000" y="2020680"/>
            <a:ext cx="1487880" cy="10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2,5с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6654600" y="2020680"/>
            <a:ext cx="2240640" cy="10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олный расчёт по потоку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7"/>
          <p:cNvSpPr/>
          <p:nvPr/>
        </p:nvSpPr>
        <p:spPr>
          <a:xfrm>
            <a:off x="5166000" y="5104800"/>
            <a:ext cx="3728880" cy="1076400"/>
          </a:xfrm>
          <a:prstGeom prst="roundRect">
            <a:avLst>
              <a:gd name="adj" fmla="val 5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5185800" y="5104800"/>
            <a:ext cx="1468080" cy="10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0₽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6654600" y="5104800"/>
            <a:ext cx="2240640" cy="10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В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недрение: один docker compose up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9222120" y="3534840"/>
            <a:ext cx="2253240" cy="1104120"/>
          </a:xfrm>
          <a:prstGeom prst="roundRect">
            <a:avLst>
              <a:gd name="adj" fmla="val 5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9222120" y="5070960"/>
            <a:ext cx="2253240" cy="1096920"/>
          </a:xfrm>
          <a:prstGeom prst="roundRect">
            <a:avLst>
              <a:gd name="adj" fmla="val 5000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9222120" y="1987560"/>
            <a:ext cx="2253240" cy="1142640"/>
          </a:xfrm>
          <a:prstGeom prst="roundRect">
            <a:avLst>
              <a:gd name="adj" fmla="val 4800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9306000" y="5056920"/>
            <a:ext cx="208548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899"/>
              </a:lnSpc>
            </a:pP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Куратор — видит, с кем говорить, не читая 33 колонки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9306000" y="3542400"/>
            <a:ext cx="208548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899"/>
              </a:lnSpc>
            </a:pP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Студент — </a:t>
            </a: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может 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провер</a:t>
            </a: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ить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 себя сам, анонимно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9303480" y="1990800"/>
            <a:ext cx="208548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599"/>
              </a:lnSpc>
            </a:pP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М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одель</a:t>
            </a: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 легко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 расширяется на новые учебные дисциплины</a:t>
            </a:r>
            <a:r>
              <a:rPr lang="ru-RU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МЕТОДЫ </a:t>
            </a:r>
            <a:r>
              <a:rPr lang="ru-RU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Не одна модель, а честно проверенный ансамбль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685800" y="1938600"/>
            <a:ext cx="91080" cy="91080"/>
          </a:xfrm>
          <a:prstGeom prst="ellipse">
            <a:avLst/>
          </a:prstGeom>
          <a:solidFill>
            <a:srgbClr val="FF6B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941760" y="1819800"/>
            <a:ext cx="3858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Что сделали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941760" y="2130480"/>
            <a:ext cx="38584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Перебрали 10+ моделей — от логрегрессии до нейросети (MLP) и бустингов — на честной повторяющейся кросс-валидации (5×5 и 5×10 разбиений).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685800" y="3310200"/>
            <a:ext cx="91080" cy="91080"/>
          </a:xfrm>
          <a:prstGeom prst="ellipse">
            <a:avLst/>
          </a:prstGeom>
          <a:solidFill>
            <a:srgbClr val="FF6B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941760" y="3191400"/>
            <a:ext cx="3858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Что победило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941760" y="3502080"/>
            <a:ext cx="38584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Мягкое голосование трёх простых моделей (случайный лес / ExtraTrees + логрегрессия + SVM) — статистически значимо лучше любой из них по отдельности (p &lt; 0,05).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685800" y="4681800"/>
            <a:ext cx="91080" cy="91080"/>
          </a:xfrm>
          <a:prstGeom prst="ellipse">
            <a:avLst/>
          </a:prstGeom>
          <a:solidFill>
            <a:srgbClr val="FF6B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941760" y="4563000"/>
            <a:ext cx="3858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Почему не бустинг и не нейросеть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941760" y="4873680"/>
            <a:ext cx="38584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Всего 649 строк — слишком мало для их сильной стороны. Простые разнородные модели переобучаются меньше и точнее на таком объёме.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5303520" y="1828800"/>
            <a:ext cx="6202080" cy="3245760"/>
          </a:xfrm>
          <a:prstGeom prst="roundRect">
            <a:avLst>
              <a:gd name="adj" fmla="val 3944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5623560" y="2057400"/>
            <a:ext cx="5562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СРАВНЕНИЕ МОДЕЛЕЙ (без оценок за контрольные)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Chart 0"/>
          <p:cNvGraphicFramePr/>
          <p:nvPr/>
        </p:nvGraphicFramePr>
        <p:xfrm>
          <a:off x="5577840" y="2523600"/>
          <a:ext cx="5653440" cy="233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Shape 13"/>
          <p:cNvSpPr/>
          <p:nvPr/>
        </p:nvSpPr>
        <p:spPr>
          <a:xfrm>
            <a:off x="5303520" y="5349240"/>
            <a:ext cx="6202080" cy="776880"/>
          </a:xfrm>
          <a:prstGeom prst="roundRect">
            <a:avLst>
              <a:gd name="adj" fmla="val 16471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5623560" y="5349240"/>
            <a:ext cx="5562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PR-AUC 0,520 </a:t>
            </a:r>
            <a:r>
              <a:rPr lang="en-US" sz="13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против 0,386 у нейросети — именно этот запас качества и решил выбор модели.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10591560" y="6510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685800" y="1810440"/>
            <a:ext cx="7113600" cy="21027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1" descr="eda1.png"/>
          <p:cNvPicPr/>
          <p:nvPr/>
        </p:nvPicPr>
        <p:blipFill>
          <a:blip r:embed="rId3"/>
          <a:stretch/>
        </p:blipFill>
        <p:spPr>
          <a:xfrm>
            <a:off x="768240" y="1892880"/>
            <a:ext cx="6949080" cy="193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Shape 9"/>
          <p:cNvSpPr/>
          <p:nvPr/>
        </p:nvSpPr>
        <p:spPr>
          <a:xfrm>
            <a:off x="685800" y="4096440"/>
            <a:ext cx="7113600" cy="22309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2" descr="eda2.png"/>
          <p:cNvPicPr/>
          <p:nvPr/>
        </p:nvPicPr>
        <p:blipFill>
          <a:blip r:embed="rId4"/>
          <a:stretch/>
        </p:blipFill>
        <p:spPr>
          <a:xfrm>
            <a:off x="685800" y="4178880"/>
            <a:ext cx="6949080" cy="20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10"/>
          <p:cNvSpPr/>
          <p:nvPr/>
        </p:nvSpPr>
        <p:spPr>
          <a:xfrm>
            <a:off x="8110800" y="1810440"/>
            <a:ext cx="3364560" cy="987120"/>
          </a:xfrm>
          <a:prstGeom prst="roundRect">
            <a:avLst>
              <a:gd name="adj" fmla="val 5556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8385120" y="1991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15,4 %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8394120" y="228024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доля незачётов: 100 из 649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8119800" y="2930040"/>
            <a:ext cx="3364560" cy="987120"/>
          </a:xfrm>
          <a:prstGeom prst="roundRect">
            <a:avLst>
              <a:gd name="adj" fmla="val 5556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8394120" y="30852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15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8394120" y="334656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студентов с G3 = 0 — «бросил», не «ноль»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8110800" y="4096440"/>
            <a:ext cx="3364560" cy="987120"/>
          </a:xfrm>
          <a:prstGeom prst="roundRect">
            <a:avLst>
              <a:gd name="adj" fmla="val 5556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8375760" y="42534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0,75 / 0,13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8385120" y="457200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прошлые незачёты: разделяют группы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8110800" y="5216040"/>
            <a:ext cx="3364560" cy="1111320"/>
          </a:xfrm>
          <a:prstGeom prst="roundRect">
            <a:avLst>
              <a:gd name="adj" fmla="val 5556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8375760" y="5372280"/>
            <a:ext cx="28342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П</a:t>
            </a:r>
            <a:r>
              <a:rPr lang="en-US" sz="24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очти нет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8394120" y="5645520"/>
            <a:ext cx="2834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пропуски и самоподготовка: сигнала мало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АРХИТЕКТУРА 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EDA: </a:t>
            </a:r>
            <a:r>
              <a:rPr lang="ru-RU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на что вообще смотреть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Shape 2"/>
          <p:cNvSpPr/>
          <p:nvPr/>
        </p:nvSpPr>
        <p:spPr>
          <a:xfrm>
            <a:off x="6236280" y="4045680"/>
            <a:ext cx="5238720" cy="120276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6236280" y="4471920"/>
            <a:ext cx="5238720" cy="170460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658440" y="1961280"/>
            <a:ext cx="5157000" cy="4214880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1" descr="corr.png"/>
          <p:cNvPicPr/>
          <p:nvPr/>
        </p:nvPicPr>
        <p:blipFill>
          <a:blip r:embed="rId3"/>
          <a:stretch/>
        </p:blipFill>
        <p:spPr>
          <a:xfrm>
            <a:off x="658440" y="2153520"/>
            <a:ext cx="5157000" cy="381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Shape 9"/>
          <p:cNvSpPr/>
          <p:nvPr/>
        </p:nvSpPr>
        <p:spPr>
          <a:xfrm>
            <a:off x="6236280" y="1952280"/>
            <a:ext cx="5239080" cy="178272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6556320" y="21535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УТЕЧКА: G3 В ПРИЗНАКАХ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6556320" y="254664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ROC-AUC = 1.0000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6556320" y="3067920"/>
            <a:ext cx="4617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Модель просто пересказывает ответ. G3 и no_pass не попадают в признаки никогда — стоит assert при каждом запуске.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Table 0"/>
          <p:cNvGraphicFramePr/>
          <p:nvPr/>
        </p:nvGraphicFramePr>
        <p:xfrm>
          <a:off x="6235920" y="4154760"/>
          <a:ext cx="5239440" cy="1463040"/>
        </p:xfrm>
        <a:graphic>
          <a:graphicData uri="http://schemas.openxmlformats.org/drawingml/2006/table">
            <a:tbl>
              <a:tblPr/>
              <a:tblGrid>
                <a:gridCol w="3657600"/>
                <a:gridCol w="1581840"/>
              </a:tblGrid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Сильная связь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r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контрольная 1 — контрольная 2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+0,86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образование отца — матери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+0,65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алкоголь будни — выходные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+0,62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</a:tbl>
          </a:graphicData>
        </a:graphic>
      </p:graphicFrame>
      <p:sp>
        <p:nvSpPr>
          <p:cNvPr id="119" name="Text 14"/>
          <p:cNvSpPr/>
          <p:nvPr/>
        </p:nvSpPr>
        <p:spPr>
          <a:xfrm>
            <a:off x="6546960" y="562212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Мультиколлинеарность не ломает деревья, но размывает важности — считаем их по исходным признакам.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АРХИТЕКТУРА 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Не одна модель, а честно проверенный ансамбль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Shape 2"/>
          <p:cNvSpPr/>
          <p:nvPr/>
        </p:nvSpPr>
        <p:spPr>
          <a:xfrm>
            <a:off x="685800" y="2286000"/>
            <a:ext cx="6034680" cy="189252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685800" y="2712240"/>
            <a:ext cx="6034680" cy="163080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6" name="Table 0"/>
          <p:cNvGraphicFramePr/>
          <p:nvPr/>
        </p:nvGraphicFramePr>
        <p:xfrm>
          <a:off x="685800" y="2332800"/>
          <a:ext cx="6035040" cy="195444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</a:tblGrid>
              <a:tr h="419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Инженерия признаков «до / после»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ROC до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ROC после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Δ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 · ExtraTrees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0,9505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0,9659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+0,0154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L1 · Логрег L1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0,9637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0,9592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−0,0045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L2 · ExtraTrees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0,8199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0,8233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+0,0034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L2 · Логрег L1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0,8094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0,8069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−0,0025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</a:tbl>
          </a:graphicData>
        </a:graphic>
      </p:graphicFrame>
      <p:sp>
        <p:nvSpPr>
          <p:cNvPr id="127" name="Shape 8"/>
          <p:cNvSpPr/>
          <p:nvPr/>
        </p:nvSpPr>
        <p:spPr>
          <a:xfrm>
            <a:off x="685800" y="4489560"/>
            <a:ext cx="6034680" cy="1590840"/>
          </a:xfrm>
          <a:prstGeom prst="roundRect">
            <a:avLst>
              <a:gd name="adj" fmla="val 3333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1005840" y="465444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LEAVE-ONE-OUT: УБРАЛИ 14 ИЗ 18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1005840" y="4974480"/>
            <a:ext cx="53946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Каждый признак выключали по отдельности и смотрели, падает ли метрика. Удаление всей группы разом: ExtraTrees +0,0015, логрег +0,0061 — прирост дал отсев, а не добавление.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6995160" y="2286000"/>
            <a:ext cx="4507560" cy="3794400"/>
          </a:xfrm>
          <a:prstGeom prst="roundRect">
            <a:avLst>
              <a:gd name="adj" fmla="val 1446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7315200" y="248724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ИТОГОВЫЙ НАБОР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7315200" y="28346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48 → 34 признака до кодирования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7315200" y="3246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failures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9235440" y="32461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прошлые незачёты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7315200" y="3557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school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9235440" y="35571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учебное заведение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8"/>
          <p:cNvSpPr/>
          <p:nvPr/>
        </p:nvSpPr>
        <p:spPr>
          <a:xfrm>
            <a:off x="7315200" y="38678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higher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9"/>
          <p:cNvSpPr/>
          <p:nvPr/>
        </p:nvSpPr>
        <p:spPr>
          <a:xfrm>
            <a:off x="9235440" y="3867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планы учиться дальше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7315200" y="4178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studytime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1"/>
          <p:cNvSpPr/>
          <p:nvPr/>
        </p:nvSpPr>
        <p:spPr>
          <a:xfrm>
            <a:off x="9235440" y="41788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часы самоподготовки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2"/>
          <p:cNvSpPr/>
          <p:nvPr/>
        </p:nvSpPr>
        <p:spPr>
          <a:xfrm>
            <a:off x="7315200" y="44895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absences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3"/>
          <p:cNvSpPr/>
          <p:nvPr/>
        </p:nvSpPr>
        <p:spPr>
          <a:xfrm>
            <a:off x="9235440" y="44895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пропуски занятий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4"/>
          <p:cNvSpPr/>
          <p:nvPr/>
        </p:nvSpPr>
        <p:spPr>
          <a:xfrm>
            <a:off x="7315200" y="4800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+ ещё 25 исходных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9235440" y="4800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семья, быт, поддержка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6"/>
          <p:cNvSpPr/>
          <p:nvPr/>
        </p:nvSpPr>
        <p:spPr>
          <a:xfrm>
            <a:off x="7315200" y="52120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4 ИНЖЕНЕРНЫХ ВЫЖИЛИ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7"/>
          <p:cNvSpPr/>
          <p:nvPr/>
        </p:nvSpPr>
        <p:spPr>
          <a:xfrm>
            <a:off x="7315200" y="553212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has_failures · no_higher · risk_count · age_bin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АРХИТЕКТУРА 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Создание и сохранение признаков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2"/>
          <p:cNvSpPr/>
          <p:nvPr/>
        </p:nvSpPr>
        <p:spPr>
          <a:xfrm>
            <a:off x="510480" y="2210040"/>
            <a:ext cx="6210000" cy="370368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510480" y="2930760"/>
            <a:ext cx="6210000" cy="298296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Прямоугольник 16"/>
          <p:cNvSpPr/>
          <p:nvPr/>
        </p:nvSpPr>
        <p:spPr>
          <a:xfrm>
            <a:off x="510480" y="2643480"/>
            <a:ext cx="6210000" cy="1408680"/>
          </a:xfrm>
          <a:prstGeom prst="rect">
            <a:avLst/>
          </a:prstGeom>
          <a:solidFill>
            <a:srgbClr val="222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6995160" y="2196720"/>
            <a:ext cx="4672440" cy="371700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6995160" y="2930760"/>
            <a:ext cx="4672440" cy="298296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Прямоугольник 19"/>
          <p:cNvSpPr/>
          <p:nvPr/>
        </p:nvSpPr>
        <p:spPr>
          <a:xfrm>
            <a:off x="6995160" y="2813400"/>
            <a:ext cx="4672440" cy="1230480"/>
          </a:xfrm>
          <a:prstGeom prst="rect">
            <a:avLst/>
          </a:prstGeom>
          <a:solidFill>
            <a:srgbClr val="222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7" name="Table 0"/>
          <p:cNvGraphicFramePr/>
          <p:nvPr/>
        </p:nvGraphicFramePr>
        <p:xfrm>
          <a:off x="576360" y="2242440"/>
          <a:ext cx="6035040" cy="361908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640080"/>
                <a:gridCol w="1188720"/>
              </a:tblGrid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УРОВЕНЬ 2 — без оценок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ROC-AUC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±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PR-AUC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SVM RBF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0,835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0,021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0,500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Случайный лес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0,831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0,029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0,502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ExtraTrees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0,828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0,035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0,498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Логрег L1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0,813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0,050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0,468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GradientBoosting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0,805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0,028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0,479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HistGB / CatBoost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0,800 / 0,797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0,478 / 0,461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LightGBM / XGBoost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0,794 / 0,787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0,453 / 0,448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02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Константа (нижняя граница)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0,500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0,000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0,154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" name="Table 1"/>
          <p:cNvGraphicFramePr/>
          <p:nvPr/>
        </p:nvGraphicFramePr>
        <p:xfrm>
          <a:off x="7078320" y="2215800"/>
          <a:ext cx="4507920" cy="3620160"/>
        </p:xfrm>
        <a:graphic>
          <a:graphicData uri="http://schemas.openxmlformats.org/drawingml/2006/table">
            <a:tbl>
              <a:tblPr/>
              <a:tblGrid>
                <a:gridCol w="2313360"/>
                <a:gridCol w="1097280"/>
                <a:gridCol w="1097280"/>
              </a:tblGrid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УРОВЕНЬ 1 — с оценками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ROC-AUC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PR-AUC</a:t>
                      </a:r>
                      <a:endParaRPr lang="ru-RU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Случайный лес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0,869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ExtraTrees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0,964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0,857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CatBoost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0,964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0,865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0,962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0,852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603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Логрег L1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0,960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0,838</a:t>
                      </a:r>
                      <a:endParaRPr lang="ru-RU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</a:tbl>
          </a:graphicData>
        </a:graphic>
      </p:graphicFrame>
      <p:sp>
        <p:nvSpPr>
          <p:cNvPr id="159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АРХИТЕКТУРА 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Сравнение моделей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Shape 2"/>
          <p:cNvSpPr/>
          <p:nvPr/>
        </p:nvSpPr>
        <p:spPr>
          <a:xfrm>
            <a:off x="650880" y="2155680"/>
            <a:ext cx="10954800" cy="201132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650880" y="2622600"/>
            <a:ext cx="10954800" cy="154404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Прямоугольник 2"/>
          <p:cNvSpPr/>
          <p:nvPr/>
        </p:nvSpPr>
        <p:spPr>
          <a:xfrm>
            <a:off x="650880" y="2622600"/>
            <a:ext cx="10954800" cy="747000"/>
          </a:xfrm>
          <a:prstGeom prst="rect">
            <a:avLst/>
          </a:prstGeom>
          <a:solidFill>
            <a:srgbClr val="222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Table 0"/>
          <p:cNvGraphicFramePr/>
          <p:nvPr/>
        </p:nvGraphicFramePr>
        <p:xfrm>
          <a:off x="650880" y="2240280"/>
          <a:ext cx="10811880" cy="1918800"/>
        </p:xfrm>
        <a:graphic>
          <a:graphicData uri="http://schemas.openxmlformats.org/drawingml/2006/table">
            <a:tbl>
              <a:tblPr/>
              <a:tblGrid>
                <a:gridCol w="5733720"/>
                <a:gridCol w="2866680"/>
                <a:gridCol w="2211480"/>
              </a:tblGrid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Ансамбли на уровне 2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ROC-AUC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PR-AUC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ET + логрег + SVM  ← наш выбор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0,850 ± 0,025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0,532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Стэкинг (мета — логрег)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0,849 ± 0,027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0,542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ET + логрег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0,846 ± 0,028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0,522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ET + RF + логрег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0,843 ± 0,028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0,515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</a:tbl>
          </a:graphicData>
        </a:graphic>
      </p:graphicFrame>
      <p:sp>
        <p:nvSpPr>
          <p:cNvPr id="167" name="Shape 8"/>
          <p:cNvSpPr/>
          <p:nvPr/>
        </p:nvSpPr>
        <p:spPr>
          <a:xfrm>
            <a:off x="650880" y="4304520"/>
            <a:ext cx="10954800" cy="1645560"/>
          </a:xfrm>
          <a:prstGeom prst="roundRect">
            <a:avLst>
              <a:gd name="adj" fmla="val 3333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970920" y="4524120"/>
            <a:ext cx="9792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НАЙДЕННЫЕ ПАРАМЕТРЫ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970920" y="4853160"/>
            <a:ext cx="9792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ExtraTrees: n_estimators 866, min_samples_leaf 3, max_features 0.13, class_weight balanced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Логрег L1: C = 0.0315   ·   кодирование: one-hot   ·   калибровка: изотоническая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АРХИТЕКТУРА 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Ансамбль и подбор параметров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28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АРХИТЕКТУРА РЕШЕНИЯ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1"/>
          <p:cNvSpPr/>
          <p:nvPr/>
        </p:nvSpPr>
        <p:spPr>
          <a:xfrm>
            <a:off x="685800" y="9144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Три главных фактора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6"/>
          <p:cNvSpPr/>
          <p:nvPr/>
        </p:nvSpPr>
        <p:spPr>
          <a:xfrm>
            <a:off x="685800" y="2753085"/>
            <a:ext cx="3456000" cy="251424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7"/>
          <p:cNvSpPr/>
          <p:nvPr/>
        </p:nvSpPr>
        <p:spPr>
          <a:xfrm>
            <a:off x="1005840" y="3000045"/>
            <a:ext cx="283428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150" b="1" u="none" strike="noStrike">
                <a:solidFill>
                  <a:srgbClr val="FF6B4C"/>
                </a:solidFill>
                <a:effectLst/>
                <a:uFillTx/>
                <a:latin typeface="Arial Black"/>
              </a:rPr>
              <a:t>FAILURES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8"/>
          <p:cNvSpPr/>
          <p:nvPr/>
        </p:nvSpPr>
        <p:spPr>
          <a:xfrm>
            <a:off x="1005840" y="3365805"/>
            <a:ext cx="28342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2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Прошлые незачёты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9"/>
          <p:cNvSpPr/>
          <p:nvPr/>
        </p:nvSpPr>
        <p:spPr>
          <a:xfrm>
            <a:off x="1008302" y="4014660"/>
            <a:ext cx="283428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u="none" strike="noStrike" dirty="0">
                <a:solidFill>
                  <a:srgbClr val="FF6B4C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0,75  /  0,13</a:t>
            </a:r>
            <a:endParaRPr lang="ru-RU" sz="2800" b="0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0" name="TextBox 20"/>
          <p:cNvSpPr/>
          <p:nvPr/>
        </p:nvSpPr>
        <p:spPr>
          <a:xfrm>
            <a:off x="1005840" y="4609245"/>
            <a:ext cx="283428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00"/>
              </a:lnSpc>
            </a:pPr>
            <a:r>
              <a:rPr lang="ru-RU" sz="1150" b="0" u="none" strike="noStrike">
                <a:solidFill>
                  <a:srgbClr val="8A90A8"/>
                </a:solidFill>
                <a:effectLst/>
                <a:uFillTx/>
                <a:latin typeface="Calibri"/>
              </a:rPr>
              <a:t>в среднем у тех, кто не сдал,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</a:pPr>
            <a:r>
              <a:rPr lang="ru-RU" sz="1150" b="0" u="none" strike="noStrike">
                <a:solidFill>
                  <a:srgbClr val="8A90A8"/>
                </a:solidFill>
                <a:effectLst/>
                <a:uFillTx/>
                <a:latin typeface="Calibri"/>
              </a:rPr>
              <a:t>и у всех остальных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7"/>
          <p:cNvSpPr/>
          <p:nvPr/>
        </p:nvSpPr>
        <p:spPr>
          <a:xfrm>
            <a:off x="4371120" y="2753085"/>
            <a:ext cx="3456000" cy="251424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21"/>
          <p:cNvSpPr/>
          <p:nvPr/>
        </p:nvSpPr>
        <p:spPr>
          <a:xfrm>
            <a:off x="4691160" y="3000045"/>
            <a:ext cx="283428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150" b="1" u="none" strike="noStrike">
                <a:solidFill>
                  <a:srgbClr val="FF6B4C"/>
                </a:solidFill>
                <a:effectLst/>
                <a:uFillTx/>
                <a:latin typeface="Arial Black"/>
              </a:rPr>
              <a:t>SCHOOL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2"/>
          <p:cNvSpPr/>
          <p:nvPr/>
        </p:nvSpPr>
        <p:spPr>
          <a:xfrm>
            <a:off x="4691160" y="3365805"/>
            <a:ext cx="28342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2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Учебное заведение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3"/>
          <p:cNvSpPr/>
          <p:nvPr/>
        </p:nvSpPr>
        <p:spPr>
          <a:xfrm>
            <a:off x="4681980" y="4039126"/>
            <a:ext cx="283428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u="none" strike="noStrike" dirty="0">
                <a:solidFill>
                  <a:srgbClr val="FF6B4C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30 %  /  8 %</a:t>
            </a:r>
            <a:endParaRPr lang="ru-RU" sz="2800" b="0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5" name="TextBox 24"/>
          <p:cNvSpPr/>
          <p:nvPr/>
        </p:nvSpPr>
        <p:spPr>
          <a:xfrm>
            <a:off x="4691160" y="4609245"/>
            <a:ext cx="283428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00"/>
              </a:lnSpc>
            </a:pPr>
            <a:r>
              <a:rPr lang="ru-RU" sz="1150" b="0" u="none" strike="noStrike">
                <a:solidFill>
                  <a:srgbClr val="8A90A8"/>
                </a:solidFill>
                <a:effectLst/>
                <a:uFillTx/>
                <a:latin typeface="Calibri"/>
              </a:rPr>
              <a:t>доля незачётов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</a:pPr>
            <a:r>
              <a:rPr lang="ru-RU" sz="1150" b="0" u="none" strike="noStrike">
                <a:solidFill>
                  <a:srgbClr val="8A90A8"/>
                </a:solidFill>
                <a:effectLst/>
                <a:uFillTx/>
                <a:latin typeface="Calibri"/>
              </a:rPr>
              <a:t>в двух школах потока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8"/>
          <p:cNvSpPr/>
          <p:nvPr/>
        </p:nvSpPr>
        <p:spPr>
          <a:xfrm>
            <a:off x="8056080" y="2753085"/>
            <a:ext cx="3456000" cy="251424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5"/>
          <p:cNvSpPr/>
          <p:nvPr/>
        </p:nvSpPr>
        <p:spPr>
          <a:xfrm>
            <a:off x="8376120" y="3000045"/>
            <a:ext cx="2834280" cy="17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150" b="1" u="none" strike="noStrike">
                <a:solidFill>
                  <a:srgbClr val="FF6B4C"/>
                </a:solidFill>
                <a:effectLst/>
                <a:uFillTx/>
                <a:latin typeface="Arial Black"/>
              </a:rPr>
              <a:t>HIGHER</a:t>
            </a:r>
            <a:endParaRPr lang="ru-R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6"/>
          <p:cNvSpPr/>
          <p:nvPr/>
        </p:nvSpPr>
        <p:spPr>
          <a:xfrm>
            <a:off x="8376120" y="3365805"/>
            <a:ext cx="2834280" cy="55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2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Планы учиться дальше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7"/>
          <p:cNvSpPr/>
          <p:nvPr/>
        </p:nvSpPr>
        <p:spPr>
          <a:xfrm>
            <a:off x="8366940" y="4039291"/>
            <a:ext cx="283428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u="none" strike="noStrike" dirty="0">
                <a:solidFill>
                  <a:srgbClr val="FF6B4C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48 %  /  12 %</a:t>
            </a:r>
            <a:endParaRPr lang="ru-RU" sz="2800" b="0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0" name="TextBox 28"/>
          <p:cNvSpPr/>
          <p:nvPr/>
        </p:nvSpPr>
        <p:spPr>
          <a:xfrm>
            <a:off x="8376120" y="4609245"/>
            <a:ext cx="283428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00"/>
              </a:lnSpc>
            </a:pPr>
            <a:r>
              <a:rPr lang="ru-RU" sz="1150" b="0" u="none" strike="noStrike" dirty="0">
                <a:solidFill>
                  <a:srgbClr val="8A90A8"/>
                </a:solidFill>
                <a:effectLst/>
                <a:uFillTx/>
                <a:latin typeface="Calibri"/>
              </a:rPr>
              <a:t>у ответивших «нет»</a:t>
            </a:r>
            <a:endParaRPr lang="ru-RU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</a:pPr>
            <a:r>
              <a:rPr lang="ru-RU" sz="1150" b="0" u="none" strike="noStrike" dirty="0">
                <a:solidFill>
                  <a:srgbClr val="8A90A8"/>
                </a:solidFill>
                <a:effectLst/>
                <a:uFillTx/>
                <a:latin typeface="Calibri"/>
              </a:rPr>
              <a:t>и «да»</a:t>
            </a:r>
            <a:endParaRPr lang="ru-RU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Shape 2"/>
          <p:cNvSpPr/>
          <p:nvPr/>
        </p:nvSpPr>
        <p:spPr>
          <a:xfrm>
            <a:off x="681120" y="3900240"/>
            <a:ext cx="10826280" cy="1789560"/>
          </a:xfrm>
          <a:prstGeom prst="roundRect">
            <a:avLst>
              <a:gd name="adj" fmla="val 3077"/>
            </a:avLst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681120" y="4612320"/>
            <a:ext cx="10826280" cy="1513080"/>
          </a:xfrm>
          <a:prstGeom prst="roundRect">
            <a:avLst>
              <a:gd name="adj" fmla="val 3077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Прямоугольник 48"/>
          <p:cNvSpPr/>
          <p:nvPr/>
        </p:nvSpPr>
        <p:spPr>
          <a:xfrm>
            <a:off x="681120" y="4305600"/>
            <a:ext cx="10826280" cy="680400"/>
          </a:xfrm>
          <a:prstGeom prst="rect">
            <a:avLst/>
          </a:prstGeom>
          <a:solidFill>
            <a:srgbClr val="222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681120" y="2103120"/>
            <a:ext cx="3456000" cy="1554120"/>
          </a:xfrm>
          <a:prstGeom prst="roundRect">
            <a:avLst>
              <a:gd name="adj" fmla="val 3529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1001160" y="224028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382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1001160" y="3017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даёт наивный merge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1"/>
          <p:cNvSpPr/>
          <p:nvPr/>
        </p:nvSpPr>
        <p:spPr>
          <a:xfrm>
            <a:off x="4366080" y="2103120"/>
            <a:ext cx="3456000" cy="1554120"/>
          </a:xfrm>
          <a:prstGeom prst="roundRect">
            <a:avLst>
              <a:gd name="adj" fmla="val 3529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4686120" y="224028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366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4686120" y="3017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общих ключей на самом деле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8051400" y="2103120"/>
            <a:ext cx="3456000" cy="1554120"/>
          </a:xfrm>
          <a:prstGeom prst="roundRect">
            <a:avLst>
              <a:gd name="adj" fmla="val 3529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8371440" y="224028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25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8371440" y="3017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строк для честной проверки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1" name="Table 0"/>
          <p:cNvGraphicFramePr/>
          <p:nvPr/>
        </p:nvGraphicFramePr>
        <p:xfrm>
          <a:off x="690480" y="3964320"/>
          <a:ext cx="10816920" cy="1725480"/>
        </p:xfrm>
        <a:graphic>
          <a:graphicData uri="http://schemas.openxmlformats.org/drawingml/2006/table">
            <a:tbl>
              <a:tblPr/>
              <a:tblGrid>
                <a:gridCol w="4480560"/>
                <a:gridCol w="1451520"/>
                <a:gridCol w="1474200"/>
                <a:gridCol w="1691640"/>
                <a:gridCol w="1719000"/>
              </a:tblGrid>
              <a:tr h="431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Схема проверки переноса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Обучение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Тест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L1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 Black"/>
                          <a:ea typeface="Arial Black"/>
                        </a:rPr>
                        <a:t>L2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55E"/>
                    </a:solidFill>
                  </a:tcPr>
                </a:tc>
              </a:tr>
              <a:tr h="431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НАИВНО: весь por → весь mat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649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395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0,953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0,606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31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ЧЕСТНО: por без пересечения → mat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275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395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0,944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0,581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  <a:tr h="431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ПОТОЛОК: обучение внутри математики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5×2 CV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0,971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9CEE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0,676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A50"/>
                    </a:solidFill>
                  </a:tcPr>
                </a:tc>
              </a:tr>
            </a:tbl>
          </a:graphicData>
        </a:graphic>
      </p:graphicFrame>
      <p:sp>
        <p:nvSpPr>
          <p:cNvPr id="212" name="Text 18"/>
          <p:cNvSpPr/>
          <p:nvPr/>
        </p:nvSpPr>
        <p:spPr>
          <a:xfrm>
            <a:off x="694800" y="5567040"/>
            <a:ext cx="10816920" cy="52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Ключ не уникален — merge строит декартово произведение. Потолок 0,676 говорит: дело не в переносе, без оценок сигнала мало и на самой математике.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685800" y="103320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Ловушка переноса на математику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ЧЕСТНОСТЬ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РЕПОЗИТОРИЙ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85800" y="9144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Весь код, ноутбуки и история экспериментов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685800" y="1965960"/>
            <a:ext cx="548280" cy="5482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1" descr="assets/icons/filetext.png"/>
          <p:cNvPicPr/>
          <p:nvPr/>
        </p:nvPicPr>
        <p:blipFill>
          <a:blip r:embed="rId4"/>
          <a:stretch/>
        </p:blipFill>
        <p:spPr>
          <a:xfrm>
            <a:off x="822960" y="2103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1417320" y="185184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Итоговый ноутбук с полным пайплайном: EDA → модель → интерпретация.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685800" y="2971800"/>
            <a:ext cx="548280" cy="5482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2" descr="assets/icons/slash.png"/>
          <p:cNvPicPr/>
          <p:nvPr/>
        </p:nvPicPr>
        <p:blipFill>
          <a:blip r:embed="rId5"/>
          <a:stretch/>
        </p:blipFill>
        <p:spPr>
          <a:xfrm>
            <a:off x="822960" y="3108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5"/>
          <p:cNvSpPr/>
          <p:nvPr/>
        </p:nvSpPr>
        <p:spPr>
          <a:xfrm>
            <a:off x="1417320" y="285300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Честные отрицательные результаты — нейросеть, feature engineering, регрессия G3: что мы попробовали и что не сработало.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685800" y="3977640"/>
            <a:ext cx="548280" cy="5482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3" descr="assets/icons/scale.png"/>
          <p:cNvPicPr/>
          <p:nvPr/>
        </p:nvPicPr>
        <p:blipFill>
          <a:blip r:embed="rId6"/>
          <a:stretch/>
        </p:blipFill>
        <p:spPr>
          <a:xfrm>
            <a:off x="822960" y="4114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7"/>
          <p:cNvSpPr/>
          <p:nvPr/>
        </p:nvSpPr>
        <p:spPr>
          <a:xfrm>
            <a:off x="1417320" y="386676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Отдельная проверка модели на справедливость по группам — fairness-анализ.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685800" y="5120640"/>
            <a:ext cx="6309000" cy="776880"/>
          </a:xfrm>
          <a:prstGeom prst="roundRect">
            <a:avLst>
              <a:gd name="adj" fmla="val 16471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1005840" y="5120640"/>
            <a:ext cx="56689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ru-RU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Вы можете оценить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качество и организаци</a:t>
            </a:r>
            <a:r>
              <a:rPr lang="ru-RU" sz="12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ю</a:t>
            </a:r>
            <a:r>
              <a:rPr lang="en-US" sz="12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 кода, git-истори</a:t>
            </a:r>
            <a:r>
              <a:rPr lang="ru-RU" sz="12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ю</a:t>
            </a:r>
            <a:r>
              <a:rPr lang="en-US" sz="12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, вклад участников.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7498080" y="1965960"/>
            <a:ext cx="4007520" cy="379440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4" descr="assets/gen/qr_placeholder.png"/>
          <p:cNvPicPr/>
          <p:nvPr/>
        </p:nvPicPr>
        <p:blipFill>
          <a:blip r:embed="rId7"/>
          <a:stretch/>
        </p:blipFill>
        <p:spPr>
          <a:xfrm>
            <a:off x="7909560" y="2198520"/>
            <a:ext cx="3184560" cy="318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11"/>
          <p:cNvSpPr/>
          <p:nvPr/>
        </p:nvSpPr>
        <p:spPr>
          <a:xfrm>
            <a:off x="7498080" y="5166360"/>
            <a:ext cx="4007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140"/>
                </a:solidFill>
                <a:effectLst/>
                <a:uFillTx/>
                <a:latin typeface="Calibri"/>
                <a:ea typeface="Calibri"/>
              </a:rPr>
              <a:t>QR-код репозитория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10591560" y="6510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РЕАЛИЗАЦИЯ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685800" y="9144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Куратор загружает файл — получает список за секунды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576000" y="1719000"/>
            <a:ext cx="4185360" cy="4699800"/>
          </a:xfrm>
          <a:prstGeom prst="roundRect">
            <a:avLst>
              <a:gd name="adj" fmla="val 1966"/>
            </a:avLst>
          </a:prstGeom>
          <a:solidFill>
            <a:srgbClr val="222A50"/>
          </a:solidFill>
          <a:ln w="0">
            <a:noFill/>
          </a:ln>
          <a:effectLst>
            <a:outerShdw blurRad="228600" dist="76320" dir="5400000" algn="bl" rotWithShape="0">
              <a:srgbClr val="05070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1" descr="assets/screenshot_list.jpg"/>
          <p:cNvPicPr/>
          <p:nvPr/>
        </p:nvPicPr>
        <p:blipFill>
          <a:blip r:embed="rId4"/>
          <a:stretch/>
        </p:blipFill>
        <p:spPr>
          <a:xfrm>
            <a:off x="685800" y="1828800"/>
            <a:ext cx="396612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15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10591560" y="6510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4961160" y="1724400"/>
            <a:ext cx="1481040" cy="1051200"/>
          </a:xfrm>
          <a:prstGeom prst="roundRect">
            <a:avLst>
              <a:gd name="adj" fmla="val 5217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5034240" y="1861560"/>
            <a:ext cx="133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Caddy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5034240" y="2181600"/>
            <a:ext cx="133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HTTPS, автосертификат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6442560" y="209016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6671160" y="1724400"/>
            <a:ext cx="1481040" cy="1051200"/>
          </a:xfrm>
          <a:prstGeom prst="roundRect">
            <a:avLst>
              <a:gd name="adj" fmla="val 5217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6744240" y="1861560"/>
            <a:ext cx="133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nginx + React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6744240" y="2181600"/>
            <a:ext cx="133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SPA, 20,8 МБ образ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8152560" y="209016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6"/>
          <p:cNvSpPr/>
          <p:nvPr/>
        </p:nvSpPr>
        <p:spPr>
          <a:xfrm>
            <a:off x="8381160" y="1724400"/>
            <a:ext cx="1481040" cy="1051200"/>
          </a:xfrm>
          <a:prstGeom prst="roundRect">
            <a:avLst>
              <a:gd name="adj" fmla="val 5217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8454240" y="1861560"/>
            <a:ext cx="133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FastAPI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8454240" y="2181600"/>
            <a:ext cx="133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валидация, объяснения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9862560" y="209016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0"/>
          <p:cNvSpPr/>
          <p:nvPr/>
        </p:nvSpPr>
        <p:spPr>
          <a:xfrm>
            <a:off x="10091160" y="1724400"/>
            <a:ext cx="1481040" cy="1051200"/>
          </a:xfrm>
          <a:prstGeom prst="roundRect">
            <a:avLst>
              <a:gd name="adj" fmla="val 5217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1"/>
          <p:cNvSpPr/>
          <p:nvPr/>
        </p:nvSpPr>
        <p:spPr>
          <a:xfrm>
            <a:off x="10164240" y="1861560"/>
            <a:ext cx="133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6B4C"/>
                </a:solidFill>
                <a:effectLst/>
                <a:uFillTx/>
                <a:latin typeface="Cambria"/>
                <a:ea typeface="Cambria"/>
              </a:rPr>
              <a:t>riskml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2"/>
          <p:cNvSpPr/>
          <p:nvPr/>
        </p:nvSpPr>
        <p:spPr>
          <a:xfrm>
            <a:off x="10164240" y="2181600"/>
            <a:ext cx="133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joblib-артефакт</a:t>
            </a:r>
            <a:endParaRPr lang="ru-RU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8"/>
          <p:cNvSpPr/>
          <p:nvPr/>
        </p:nvSpPr>
        <p:spPr>
          <a:xfrm>
            <a:off x="4961160" y="3347640"/>
            <a:ext cx="3191040" cy="1345680"/>
          </a:xfrm>
          <a:prstGeom prst="roundRect">
            <a:avLst>
              <a:gd name="adj" fmla="val 6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9"/>
          <p:cNvSpPr/>
          <p:nvPr/>
        </p:nvSpPr>
        <p:spPr>
          <a:xfrm>
            <a:off x="5235480" y="3636360"/>
            <a:ext cx="27259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REACT + TYPESCRIPT + TAILWIND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0"/>
          <p:cNvSpPr/>
          <p:nvPr/>
        </p:nvSpPr>
        <p:spPr>
          <a:xfrm>
            <a:off x="5235480" y="4066200"/>
            <a:ext cx="2725920" cy="45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три экрана: список, карточка, анкета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1"/>
          <p:cNvSpPr/>
          <p:nvPr/>
        </p:nvSpPr>
        <p:spPr>
          <a:xfrm>
            <a:off x="4959360" y="4857840"/>
            <a:ext cx="3191040" cy="1560960"/>
          </a:xfrm>
          <a:prstGeom prst="roundRect">
            <a:avLst>
              <a:gd name="adj" fmla="val 6000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2"/>
          <p:cNvSpPr/>
          <p:nvPr/>
        </p:nvSpPr>
        <p:spPr>
          <a:xfrm>
            <a:off x="5235480" y="5076720"/>
            <a:ext cx="2725920" cy="41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ПОЛЗУНОК ВМЕСТО НАСТРОЕК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3"/>
          <p:cNvSpPr/>
          <p:nvPr/>
        </p:nvSpPr>
        <p:spPr>
          <a:xfrm>
            <a:off x="5235480" y="5468040"/>
            <a:ext cx="272592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куратор двигает ёмкость, список пересобирается на фронте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4"/>
          <p:cNvSpPr/>
          <p:nvPr/>
        </p:nvSpPr>
        <p:spPr>
          <a:xfrm>
            <a:off x="8381160" y="3349440"/>
            <a:ext cx="3191040" cy="1343880"/>
          </a:xfrm>
          <a:prstGeom prst="roundRect">
            <a:avLst>
              <a:gd name="adj" fmla="val 6000"/>
            </a:avLst>
          </a:prstGeom>
          <a:solidFill>
            <a:srgbClr val="2C355E"/>
          </a:solidFill>
          <a:ln w="12700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5"/>
          <p:cNvSpPr/>
          <p:nvPr/>
        </p:nvSpPr>
        <p:spPr>
          <a:xfrm>
            <a:off x="8655480" y="3612240"/>
            <a:ext cx="27259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РУССКИЕ ПОДПИСИ ВМЕСТО КОДОВ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6"/>
          <p:cNvSpPr/>
          <p:nvPr/>
        </p:nvSpPr>
        <p:spPr>
          <a:xfrm>
            <a:off x="8655480" y="4062960"/>
            <a:ext cx="2725920" cy="45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«менее 2 часов» вместо studytime = 1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7"/>
          <p:cNvSpPr/>
          <p:nvPr/>
        </p:nvSpPr>
        <p:spPr>
          <a:xfrm>
            <a:off x="8381160" y="4857840"/>
            <a:ext cx="3191040" cy="1562760"/>
          </a:xfrm>
          <a:prstGeom prst="roundRect">
            <a:avLst>
              <a:gd name="adj" fmla="val 6000"/>
            </a:avLst>
          </a:prstGeom>
          <a:solidFill>
            <a:srgbClr val="222A50"/>
          </a:solidFill>
          <a:ln w="12700">
            <a:solidFill>
              <a:srgbClr val="222A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8"/>
          <p:cNvSpPr/>
          <p:nvPr/>
        </p:nvSpPr>
        <p:spPr>
          <a:xfrm>
            <a:off x="8655480" y="5055840"/>
            <a:ext cx="2725920" cy="41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300">
                <a:solidFill>
                  <a:srgbClr val="FF6B4C"/>
                </a:solidFill>
                <a:effectLst/>
                <a:uFillTx/>
                <a:latin typeface="Calibri"/>
                <a:ea typeface="Arial Black"/>
              </a:rPr>
              <a:t>ПРОВЕРЕНО ЗАПУСКОМ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9"/>
          <p:cNvSpPr/>
          <p:nvPr/>
        </p:nvSpPr>
        <p:spPr>
          <a:xfrm>
            <a:off x="8655480" y="5468040"/>
            <a:ext cx="272592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42 теста, паритет с ноутбуком &lt; 1e-6, Lighthouse 96 / 100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3"/>
          <p:cNvSpPr/>
          <p:nvPr/>
        </p:nvSpPr>
        <p:spPr>
          <a:xfrm>
            <a:off x="4961160" y="2848680"/>
            <a:ext cx="6674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docker compose up --build — три контейнера, наружу открыт только Caddy, базы данных нет: файлы живут в памяти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"/>
          <p:cNvSpPr/>
          <p:nvPr/>
        </p:nvSpPr>
        <p:spPr>
          <a:xfrm>
            <a:off x="685800" y="9144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Тот же расчёт доступен и самому студенту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"/>
          <p:cNvSpPr/>
          <p:nvPr/>
        </p:nvSpPr>
        <p:spPr>
          <a:xfrm>
            <a:off x="576000" y="1673280"/>
            <a:ext cx="3746880" cy="4516920"/>
          </a:xfrm>
          <a:prstGeom prst="roundRect">
            <a:avLst>
              <a:gd name="adj" fmla="val 2196"/>
            </a:avLst>
          </a:prstGeom>
          <a:solidFill>
            <a:srgbClr val="222A50"/>
          </a:solidFill>
          <a:ln w="0">
            <a:noFill/>
          </a:ln>
          <a:effectLst>
            <a:outerShdw blurRad="228600" dist="76320" dir="5400000" algn="bl" rotWithShape="0">
              <a:srgbClr val="05070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1" descr="assets/screenshot_survey.jpg"/>
          <p:cNvPicPr/>
          <p:nvPr/>
        </p:nvPicPr>
        <p:blipFill>
          <a:blip r:embed="rId4"/>
          <a:stretch/>
        </p:blipFill>
        <p:spPr>
          <a:xfrm>
            <a:off x="685800" y="1783080"/>
            <a:ext cx="3527280" cy="42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Shape 3"/>
          <p:cNvSpPr/>
          <p:nvPr/>
        </p:nvSpPr>
        <p:spPr>
          <a:xfrm>
            <a:off x="4762080" y="1828800"/>
            <a:ext cx="529920" cy="52992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4" name="Image 2" descr="assets/icons/usercheck.png"/>
          <p:cNvPicPr/>
          <p:nvPr/>
        </p:nvPicPr>
        <p:blipFill>
          <a:blip r:embed="rId5"/>
          <a:stretch/>
        </p:blipFill>
        <p:spPr>
          <a:xfrm>
            <a:off x="4894560" y="196128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4"/>
          <p:cNvSpPr/>
          <p:nvPr/>
        </p:nvSpPr>
        <p:spPr>
          <a:xfrm>
            <a:off x="5475240" y="1952280"/>
            <a:ext cx="6030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Анкета «Проверить себя»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5475240" y="2139840"/>
            <a:ext cx="6030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Студент отвечает на те же вопросы, что есть в модели, и анонимно получает свою оценку риска — без участия куратора.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4762080" y="3246120"/>
            <a:ext cx="529920" cy="52992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3" descr="assets/icons/info.png"/>
          <p:cNvPicPr/>
          <p:nvPr/>
        </p:nvPicPr>
        <p:blipFill>
          <a:blip r:embed="rId6"/>
          <a:stretch/>
        </p:blipFill>
        <p:spPr>
          <a:xfrm>
            <a:off x="4894560" y="337860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7"/>
          <p:cNvSpPr/>
          <p:nvPr/>
        </p:nvSpPr>
        <p:spPr>
          <a:xfrm>
            <a:off x="5475240" y="3360600"/>
            <a:ext cx="6030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Честное ограничение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5475240" y="3557160"/>
            <a:ext cx="6030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Показано прямо в форме: модель обучена на курсе «португальский язык» — без оценок за контрольные расчёт специфичен именно для этого предмета.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4762080" y="4663440"/>
            <a:ext cx="529920" cy="52992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2" name="Image 4" descr="assets/icons/layers.png"/>
          <p:cNvPicPr/>
          <p:nvPr/>
        </p:nvPicPr>
        <p:blipFill>
          <a:blip r:embed="rId7"/>
          <a:stretch/>
        </p:blipFill>
        <p:spPr>
          <a:xfrm>
            <a:off x="4894560" y="479592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10"/>
          <p:cNvSpPr/>
          <p:nvPr/>
        </p:nvSpPr>
        <p:spPr>
          <a:xfrm>
            <a:off x="5475240" y="4786920"/>
            <a:ext cx="6030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Почему это важно для масштаба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5475240" y="4974480"/>
            <a:ext cx="6030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Инструмент не привязан к присутствию куратора — студент может раньше заметить потенциальную проблему сам.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10591560" y="6510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300">
                <a:solidFill>
                  <a:srgbClr val="FF6B4C"/>
                </a:solidFill>
                <a:effectLst/>
                <a:uFillTx/>
                <a:latin typeface="Calibri"/>
              </a:rPr>
              <a:t>КИЛЛЕР ФИЧА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Image 0" descr="assets/gen/dot_grid.png"/>
          <p:cNvPicPr/>
          <p:nvPr/>
        </p:nvPicPr>
        <p:blipFill>
          <a:blip r:embed="rId2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ИТОГ РАБОТЫ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85800" y="9144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Можете оценить сайт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685800" y="1965960"/>
            <a:ext cx="548280" cy="5482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1" descr="assets/icons/usercheck.png"/>
          <p:cNvPicPr/>
          <p:nvPr/>
        </p:nvPicPr>
        <p:blipFill>
          <a:blip r:embed="rId3"/>
          <a:stretch/>
        </p:blipFill>
        <p:spPr>
          <a:xfrm>
            <a:off x="822960" y="2103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3"/>
          <p:cNvSpPr/>
          <p:nvPr/>
        </p:nvSpPr>
        <p:spPr>
          <a:xfrm>
            <a:off x="1417320" y="185184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Короткая анкета — несколько вопросов, </a:t>
            </a: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для оценки ваших вероятностей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685800" y="2971800"/>
            <a:ext cx="548280" cy="5482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2" descr="assets/icons/target.png"/>
          <p:cNvPicPr/>
          <p:nvPr/>
        </p:nvPicPr>
        <p:blipFill>
          <a:blip r:embed="rId4"/>
          <a:stretch/>
        </p:blipFill>
        <p:spPr>
          <a:xfrm>
            <a:off x="822960" y="3108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5"/>
          <p:cNvSpPr/>
          <p:nvPr/>
        </p:nvSpPr>
        <p:spPr>
          <a:xfrm>
            <a:off x="1417320" y="285300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П</a:t>
            </a: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онятность интерфейса, удобство работы со списком</a:t>
            </a: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. Наличие светлой и темной тем.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685800" y="3977640"/>
            <a:ext cx="548280" cy="5482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3" descr="assets/icons/info.png"/>
          <p:cNvPicPr/>
          <p:nvPr/>
        </p:nvPicPr>
        <p:blipFill>
          <a:blip r:embed="rId5"/>
          <a:stretch/>
        </p:blipFill>
        <p:spPr>
          <a:xfrm>
            <a:off x="822960" y="4114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7"/>
          <p:cNvSpPr/>
          <p:nvPr/>
        </p:nvSpPr>
        <p:spPr>
          <a:xfrm>
            <a:off x="1417320" y="3866760"/>
            <a:ext cx="5577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Результаты</a:t>
            </a: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 анонимны и помогают </a:t>
            </a:r>
            <a:r>
              <a:rPr lang="ru-RU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ученикам и наставникам улучшать успеваемость в классе</a:t>
            </a:r>
            <a:r>
              <a:rPr lang="en-US" sz="14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8"/>
          <p:cNvSpPr/>
          <p:nvPr/>
        </p:nvSpPr>
        <p:spPr>
          <a:xfrm>
            <a:off x="685800" y="5120640"/>
            <a:ext cx="6309000" cy="776880"/>
          </a:xfrm>
          <a:prstGeom prst="roundRect">
            <a:avLst>
              <a:gd name="adj" fmla="val 16471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9"/>
          <p:cNvSpPr/>
          <p:nvPr/>
        </p:nvSpPr>
        <p:spPr>
          <a:xfrm>
            <a:off x="1005840" y="5120640"/>
            <a:ext cx="56689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Ссылка: </a:t>
            </a:r>
            <a:r>
              <a:rPr lang="en-US" sz="1600" b="0" u="none" strike="noStrike">
                <a:solidFill>
                  <a:srgbClr val="8A90A8"/>
                </a:solidFill>
                <a:effectLst/>
                <a:uFillTx/>
                <a:latin typeface="Calibri"/>
                <a:ea typeface="Calibri"/>
              </a:rPr>
              <a:t>shazram.ru/survey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0"/>
          <p:cNvSpPr/>
          <p:nvPr/>
        </p:nvSpPr>
        <p:spPr>
          <a:xfrm>
            <a:off x="7498080" y="1965960"/>
            <a:ext cx="4007520" cy="379440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Image 4" descr="assets/gen/qr_survey.png"/>
          <p:cNvPicPr/>
          <p:nvPr/>
        </p:nvPicPr>
        <p:blipFill>
          <a:blip r:embed="rId6"/>
          <a:stretch/>
        </p:blipFill>
        <p:spPr>
          <a:xfrm>
            <a:off x="7909560" y="2198520"/>
            <a:ext cx="3184560" cy="318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 11"/>
          <p:cNvSpPr/>
          <p:nvPr/>
        </p:nvSpPr>
        <p:spPr>
          <a:xfrm>
            <a:off x="7498080" y="5166360"/>
            <a:ext cx="4007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140"/>
                </a:solidFill>
                <a:effectLst/>
                <a:uFillTx/>
                <a:latin typeface="Arial Black"/>
                <a:ea typeface="Calibri"/>
              </a:rPr>
              <a:t>QR-код </a:t>
            </a:r>
            <a:r>
              <a:rPr lang="ru-RU" sz="1250" b="1" u="none" strike="noStrike">
                <a:solidFill>
                  <a:srgbClr val="1A2140"/>
                </a:solidFill>
                <a:effectLst/>
                <a:uFillTx/>
                <a:latin typeface="Arial Black"/>
                <a:ea typeface="Calibri"/>
              </a:rPr>
              <a:t>сайта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10591560" y="6510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0"/>
          <p:cNvSpPr/>
          <p:nvPr/>
        </p:nvSpPr>
        <p:spPr>
          <a:xfrm>
            <a:off x="685800" y="567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FF6B4C"/>
                </a:solidFill>
                <a:effectLst/>
                <a:uFillTx/>
                <a:latin typeface="Calibri"/>
                <a:ea typeface="Calibri"/>
              </a:rPr>
              <a:t>КОМАНДНАЯ РАБОТА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685800" y="9144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Кто и за что отвечал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685800" y="1965960"/>
            <a:ext cx="5226840" cy="1782720"/>
          </a:xfrm>
          <a:prstGeom prst="roundRect">
            <a:avLst>
              <a:gd name="adj" fmla="val 7179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1014480" y="2468880"/>
            <a:ext cx="776880" cy="7768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1" descr="assets/icons/barchart.png"/>
          <p:cNvPicPr/>
          <p:nvPr/>
        </p:nvPicPr>
        <p:blipFill>
          <a:blip r:embed="rId4"/>
          <a:stretch/>
        </p:blipFill>
        <p:spPr>
          <a:xfrm>
            <a:off x="1216800" y="264816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4"/>
          <p:cNvSpPr/>
          <p:nvPr/>
        </p:nvSpPr>
        <p:spPr>
          <a:xfrm>
            <a:off x="2062440" y="2558160"/>
            <a:ext cx="358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Шмидт Герберт и Иванов Роман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2051280" y="2921040"/>
            <a:ext cx="3580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Аналитика и модель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6278760" y="1965960"/>
            <a:ext cx="5226840" cy="1782720"/>
          </a:xfrm>
          <a:prstGeom prst="roundRect">
            <a:avLst>
              <a:gd name="adj" fmla="val 7179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7"/>
          <p:cNvSpPr/>
          <p:nvPr/>
        </p:nvSpPr>
        <p:spPr>
          <a:xfrm>
            <a:off x="6644520" y="2473920"/>
            <a:ext cx="776880" cy="7768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2" descr="assets/icons/gitbranch.png"/>
          <p:cNvPicPr/>
          <p:nvPr/>
        </p:nvPicPr>
        <p:blipFill>
          <a:blip r:embed="rId5"/>
          <a:stretch/>
        </p:blipFill>
        <p:spPr>
          <a:xfrm>
            <a:off x="6846480" y="266652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8"/>
          <p:cNvSpPr/>
          <p:nvPr/>
        </p:nvSpPr>
        <p:spPr>
          <a:xfrm>
            <a:off x="7673040" y="2587680"/>
            <a:ext cx="358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Агафонцев Александр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7650360" y="2770560"/>
            <a:ext cx="3580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Feature engineering, валидация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0"/>
          <p:cNvSpPr/>
          <p:nvPr/>
        </p:nvSpPr>
        <p:spPr>
          <a:xfrm>
            <a:off x="685800" y="4114800"/>
            <a:ext cx="5226840" cy="1782720"/>
          </a:xfrm>
          <a:prstGeom prst="roundRect">
            <a:avLst>
              <a:gd name="adj" fmla="val 7179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1"/>
          <p:cNvSpPr/>
          <p:nvPr/>
        </p:nvSpPr>
        <p:spPr>
          <a:xfrm>
            <a:off x="1020600" y="4617720"/>
            <a:ext cx="776880" cy="7768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2" name="Image 3" descr="assets/icons/monitor.png"/>
          <p:cNvPicPr/>
          <p:nvPr/>
        </p:nvPicPr>
        <p:blipFill>
          <a:blip r:embed="rId6"/>
          <a:stretch/>
        </p:blipFill>
        <p:spPr>
          <a:xfrm>
            <a:off x="1222560" y="482364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Text 12"/>
          <p:cNvSpPr/>
          <p:nvPr/>
        </p:nvSpPr>
        <p:spPr>
          <a:xfrm>
            <a:off x="2057400" y="4667040"/>
            <a:ext cx="358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Бубенин Денис и Рымарь Анастасия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"/>
          <p:cNvSpPr/>
          <p:nvPr/>
        </p:nvSpPr>
        <p:spPr>
          <a:xfrm>
            <a:off x="2051280" y="5026680"/>
            <a:ext cx="3580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Интерфейс и демонстрация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4"/>
          <p:cNvSpPr/>
          <p:nvPr/>
        </p:nvSpPr>
        <p:spPr>
          <a:xfrm>
            <a:off x="6278760" y="4114800"/>
            <a:ext cx="5226840" cy="1782720"/>
          </a:xfrm>
          <a:prstGeom prst="roundRect">
            <a:avLst>
              <a:gd name="adj" fmla="val 7179"/>
            </a:avLst>
          </a:prstGeom>
          <a:solidFill>
            <a:srgbClr val="222A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5"/>
          <p:cNvSpPr/>
          <p:nvPr/>
        </p:nvSpPr>
        <p:spPr>
          <a:xfrm>
            <a:off x="6644520" y="4617720"/>
            <a:ext cx="776880" cy="776880"/>
          </a:xfrm>
          <a:prstGeom prst="ellipse">
            <a:avLst/>
          </a:prstGeom>
          <a:solidFill>
            <a:srgbClr val="2C35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4" descr="assets/icons/mic.png"/>
          <p:cNvPicPr/>
          <p:nvPr/>
        </p:nvPicPr>
        <p:blipFill>
          <a:blip r:embed="rId7"/>
          <a:stretch/>
        </p:blipFill>
        <p:spPr>
          <a:xfrm>
            <a:off x="6846480" y="4819680"/>
            <a:ext cx="372600" cy="37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16"/>
          <p:cNvSpPr/>
          <p:nvPr/>
        </p:nvSpPr>
        <p:spPr>
          <a:xfrm>
            <a:off x="7650360" y="4733640"/>
            <a:ext cx="3580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Гайнатуллин Артур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7650360" y="4919400"/>
            <a:ext cx="3580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Доклад и материалы защиты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685800" y="6510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99">
                <a:solidFill>
                  <a:srgbClr val="39426B"/>
                </a:solidFill>
                <a:effectLst/>
                <a:uFillTx/>
                <a:latin typeface="Calibri"/>
                <a:ea typeface="Calibri"/>
              </a:rPr>
              <a:t>КЕЙС 6 · КТО НЕ ПОЛУЧИТ ЗАЧЁТ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9"/>
          <p:cNvSpPr/>
          <p:nvPr/>
        </p:nvSpPr>
        <p:spPr>
          <a:xfrm>
            <a:off x="10591560" y="6510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Image 0" descr="assets/gen/dot_grid.png"/>
          <p:cNvPicPr/>
          <p:nvPr/>
        </p:nvPicPr>
        <p:blipFill>
          <a:blip r:embed="rId3"/>
          <a:stretch/>
        </p:blipFill>
        <p:spPr>
          <a:xfrm>
            <a:off x="360" y="4572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Shape 0"/>
          <p:cNvSpPr/>
          <p:nvPr/>
        </p:nvSpPr>
        <p:spPr>
          <a:xfrm>
            <a:off x="-1737360" y="4206240"/>
            <a:ext cx="4754520" cy="4754520"/>
          </a:xfrm>
          <a:prstGeom prst="ellipse">
            <a:avLst/>
          </a:prstGeom>
          <a:noFill/>
          <a:ln w="15875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"/>
          <p:cNvSpPr/>
          <p:nvPr/>
        </p:nvSpPr>
        <p:spPr>
          <a:xfrm>
            <a:off x="-1188720" y="4754880"/>
            <a:ext cx="3657240" cy="3657240"/>
          </a:xfrm>
          <a:prstGeom prst="ellipse">
            <a:avLst/>
          </a:prstGeom>
          <a:noFill/>
          <a:ln w="15875">
            <a:solidFill>
              <a:srgbClr val="2C3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"/>
          <p:cNvSpPr/>
          <p:nvPr/>
        </p:nvSpPr>
        <p:spPr>
          <a:xfrm>
            <a:off x="-640080" y="5303520"/>
            <a:ext cx="2559960" cy="2559960"/>
          </a:xfrm>
          <a:prstGeom prst="ellipse">
            <a:avLst/>
          </a:prstGeom>
          <a:noFill/>
          <a:ln w="15875">
            <a:solidFill>
              <a:srgbClr val="3A457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0" y="2606040"/>
            <a:ext cx="121914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Спасибо за внимание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4"/>
          <p:cNvSpPr/>
          <p:nvPr/>
        </p:nvSpPr>
        <p:spPr>
          <a:xfrm>
            <a:off x="0" y="3611880"/>
            <a:ext cx="12191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CEE8"/>
                </a:solidFill>
                <a:effectLst/>
                <a:uFillTx/>
                <a:latin typeface="Calibri"/>
                <a:ea typeface="Calibri"/>
              </a:rPr>
              <a:t>Будем рады любым вопросам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2099</Words>
  <Application>Microsoft Office PowerPoint</Application>
  <PresentationFormat>Широкоэкранный</PresentationFormat>
  <Paragraphs>318</Paragraphs>
  <Slides>17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Cambria</vt:lpstr>
      <vt:lpstr>DejaVu Sans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Учетная запись Майкрософт</cp:lastModifiedBy>
  <cp:revision>42</cp:revision>
  <dcterms:created xsi:type="dcterms:W3CDTF">2026-09-06T22:03:59Z</dcterms:created>
  <dcterms:modified xsi:type="dcterms:W3CDTF">2026-09-08T06:51:15Z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16</vt:i4>
  </property>
</Properties>
</file>